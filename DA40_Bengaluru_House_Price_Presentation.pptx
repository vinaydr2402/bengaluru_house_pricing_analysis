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BENGALURU HOUSE</a:t>
            </a:r>
            <a:br/>
            <a:r>
              <a:t>PRICE ANALYSIS</a:t>
            </a:r>
          </a:p>
          <a:p>
            <a:pPr>
              <a:spcBef>
                <a:spcPts val="1800"/>
              </a:spcBef>
              <a:defRPr sz="2000">
                <a:solidFill>
                  <a:srgbClr val="CDDCF2"/>
                </a:solidFill>
                <a:latin typeface="Aptos"/>
              </a:defRPr>
            </a:pPr>
            <a:r>
              <a:t>DA-40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29768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Business question: What drives property prices by area?</a:t>
            </a:r>
          </a:p>
          <a:p>
            <a:pPr>
              <a:defRPr sz="1300">
                <a:solidFill>
                  <a:srgbClr val="CDDCF2"/>
                </a:solidFill>
              </a:defRPr>
            </a:pPr>
            <a:r>
              <a:t>Excel / Power Query  •  SQL  •  Python EDA  • 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DA-40 Capstone • Bengaluru House Price Analysis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 Display"/>
              </a:defRPr>
            </a:pPr>
            <a:r>
              <a:t>1. 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t>Explore property price patterns across Bengaluru locations and property segments.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02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Business question: What factors are associated with property price differences by area?</a:t>
            </a:r>
          </a:p>
          <a:p>
            <a:pPr>
              <a:spcAft>
                <a:spcPts val="8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Compare average total price and average price per square foot across area types and locations.</a:t>
            </a:r>
          </a:p>
          <a:p>
            <a:pPr>
              <a:spcAft>
                <a:spcPts val="8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Explore how price varies with BHK and total property size.</a:t>
            </a:r>
          </a:p>
          <a:p>
            <a:pPr>
              <a:spcAft>
                <a:spcPts val="8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Identify data-quality issues that could distort averages and rankings.</a:t>
            </a:r>
          </a:p>
          <a:p>
            <a:pPr>
              <a:spcAft>
                <a:spcPts val="8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Deliver an interactive Power BI dashboard and actionable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828800"/>
            <a:ext cx="3200400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2500" b="1">
                <a:solidFill>
                  <a:srgbClr val="4472C4"/>
                </a:solidFill>
                <a:latin typeface="Aptos Display"/>
              </a:defRPr>
            </a:pPr>
            <a:r>
              <a:t>12,791</a:t>
            </a:r>
          </a:p>
          <a:p>
            <a:pPr algn="ctr">
              <a:defRPr sz="1100" b="1">
                <a:solidFill>
                  <a:srgbClr val="28303A"/>
                </a:solidFill>
                <a:latin typeface="Aptos"/>
              </a:defRPr>
            </a:pPr>
            <a:r>
              <a:t>Cleaned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246120"/>
            <a:ext cx="3200400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2500" b="1">
                <a:solidFill>
                  <a:srgbClr val="307853"/>
                </a:solidFill>
                <a:latin typeface="Aptos Display"/>
              </a:defRPr>
            </a:pPr>
            <a:r>
              <a:t>1,294</a:t>
            </a:r>
          </a:p>
          <a:p>
            <a:pPr algn="ctr">
              <a:defRPr sz="1100" b="1">
                <a:solidFill>
                  <a:srgbClr val="28303A"/>
                </a:solidFill>
                <a:latin typeface="Aptos"/>
              </a:defRPr>
            </a:pPr>
            <a:r>
              <a:t>Unique 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4663440"/>
            <a:ext cx="3200400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2500" b="1">
                <a:solidFill>
                  <a:srgbClr val="E6AA3C"/>
                </a:solidFill>
                <a:latin typeface="Aptos Display"/>
              </a:defRPr>
            </a:pPr>
            <a:r>
              <a:t>₹ Lakhs</a:t>
            </a:r>
          </a:p>
          <a:p>
            <a:pPr algn="ctr">
              <a:defRPr sz="1100" b="1">
                <a:solidFill>
                  <a:srgbClr val="28303A"/>
                </a:solidFill>
                <a:latin typeface="Aptos"/>
              </a:defRPr>
            </a:pPr>
            <a:r>
              <a:t>Price unit</a:t>
            </a:r>
          </a:p>
          <a:p>
            <a:pPr algn="ctr">
              <a:defRPr sz="800">
                <a:solidFill>
                  <a:srgbClr val="5F6973"/>
                </a:solidFill>
                <a:latin typeface="Aptos"/>
              </a:defRPr>
            </a:pPr>
            <a:r>
              <a:t>price field is stored in lakh rupees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DA-40 Capstone • Bengaluru House Price Analysis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 Display"/>
              </a:defRPr>
            </a:pPr>
            <a:r>
              <a:t>2. Dataset &amp;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t>The cleaned CSV used by Python and Power BI contains 12,791 records and 14 columns.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02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Original dataset: 13,320 rows; 529 exact duplicate rows were removed.</a:t>
            </a:r>
          </a:p>
          <a:p>
            <a:pPr>
              <a:spcAft>
                <a:spcPts val="8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Created society_clean to replace missing society values with “Unknown” and trim text.</a:t>
            </a:r>
          </a:p>
          <a:p>
            <a:pPr>
              <a:spcAft>
                <a:spcPts val="8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Created total_sqft_raw to preserve the original area value and total_sqft_clean to parse numeric values and average range endpoints where possible.</a:t>
            </a:r>
          </a:p>
          <a:p>
            <a:pPr>
              <a:spcAft>
                <a:spcPts val="8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Created bhk from size and price_per_sqft = price × 100,000 ÷ total_sqft_clean.</a:t>
            </a:r>
          </a:p>
          <a:p>
            <a:pPr>
              <a:spcAft>
                <a:spcPts val="8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Missing values remaining in the notebook: 605 balcony, 73 bath, 46 total_sqft_clean, 16 size/BHK, and 1 location.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DA-40 Capstone • Bengaluru House Price Analysis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 Display"/>
              </a:defRPr>
            </a:pPr>
            <a:r>
              <a:t>3. 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t>MySQL queries examine price patterns, location averages, and property rankings.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02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6032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2500" b="1">
                <a:solidFill>
                  <a:srgbClr val="4472C4"/>
                </a:solidFill>
                <a:latin typeface="Aptos Display"/>
              </a:defRPr>
            </a:pPr>
            <a:r>
              <a:t>GROUP BY</a:t>
            </a:r>
          </a:p>
          <a:p>
            <a:pPr algn="ctr">
              <a:defRPr sz="1100" b="1">
                <a:solidFill>
                  <a:srgbClr val="28303A"/>
                </a:solidFill>
                <a:latin typeface="Aptos"/>
              </a:defRPr>
            </a:pPr>
            <a:r>
              <a:t>Average price by area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737360"/>
            <a:ext cx="256032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2500" b="1">
                <a:solidFill>
                  <a:srgbClr val="307853"/>
                </a:solidFill>
                <a:latin typeface="Aptos Display"/>
              </a:defRPr>
            </a:pPr>
            <a:r>
              <a:t>JOIN</a:t>
            </a:r>
          </a:p>
          <a:p>
            <a:pPr algn="ctr">
              <a:defRPr sz="1100" b="1">
                <a:solidFill>
                  <a:srgbClr val="28303A"/>
                </a:solidFill>
                <a:latin typeface="Aptos"/>
              </a:defRPr>
            </a:pPr>
            <a:r>
              <a:t>Compare property to area average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256032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2500" b="1">
                <a:solidFill>
                  <a:srgbClr val="E6AA3C"/>
                </a:solidFill>
                <a:latin typeface="Aptos Display"/>
              </a:defRPr>
            </a:pPr>
            <a:r>
              <a:t>Subquery</a:t>
            </a:r>
          </a:p>
          <a:p>
            <a:pPr algn="ctr">
              <a:defRPr sz="1100" b="1">
                <a:solidFill>
                  <a:srgbClr val="28303A"/>
                </a:solidFill>
                <a:latin typeface="Aptos"/>
              </a:defRPr>
            </a:pPr>
            <a:r>
              <a:t>Locations above overall average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737360"/>
            <a:ext cx="233172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2500" b="1">
                <a:solidFill>
                  <a:srgbClr val="4472C4"/>
                </a:solidFill>
                <a:latin typeface="Aptos Display"/>
              </a:defRPr>
            </a:pPr>
            <a:r>
              <a:t>CTE + RANK</a:t>
            </a:r>
          </a:p>
          <a:p>
            <a:pPr algn="ctr">
              <a:defRPr sz="1100" b="1">
                <a:solidFill>
                  <a:srgbClr val="28303A"/>
                </a:solidFill>
                <a:latin typeface="Aptos"/>
              </a:defRPr>
            </a:pPr>
            <a:r>
              <a:t>Location and property rankings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The saved SQL script includes grouping, joins, a subquery, a CTE, and a window function (RANK).</a:t>
            </a:r>
          </a:p>
          <a:p>
            <a:pPr>
              <a:spcAft>
                <a:spcPts val="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A Top 10 query filters locations to at least 10 records before ranking by average price per square foot.</a:t>
            </a:r>
          </a:p>
          <a:p>
            <a:pPr>
              <a:spcAft>
                <a:spcPts val="8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Important limitation: MySQL house_pricesv2 currently has 12,001 rows, compared with 12,791 in the cleaned CSV/Python/Power BI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DA-40 Capstone • Bengaluru House Price Analysis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 Display"/>
              </a:defRPr>
            </a:pPr>
            <a:r>
              <a:t>4. Python EDA — Key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t>Descriptive statistics and eight visual analyses were completed in the notebook.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02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51460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2500" b="1">
                <a:solidFill>
                  <a:srgbClr val="4472C4"/>
                </a:solidFill>
                <a:latin typeface="Aptos Display"/>
              </a:defRPr>
            </a:pPr>
            <a:r>
              <a:t>₹114.32 L</a:t>
            </a:r>
          </a:p>
          <a:p>
            <a:pPr algn="ctr">
              <a:defRPr sz="1100" b="1">
                <a:solidFill>
                  <a:srgbClr val="28303A"/>
                </a:solidFill>
                <a:latin typeface="Aptos"/>
              </a:defRPr>
            </a:pPr>
            <a:r>
              <a:t>Average price</a:t>
            </a:r>
          </a:p>
          <a:p>
            <a:pPr algn="ctr">
              <a:defRPr sz="800">
                <a:solidFill>
                  <a:srgbClr val="5F6973"/>
                </a:solidFill>
                <a:latin typeface="Aptos"/>
              </a:defRPr>
            </a:pPr>
            <a:r>
              <a:t>lakhs of rupees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1460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2500" b="1">
                <a:solidFill>
                  <a:srgbClr val="307853"/>
                </a:solidFill>
                <a:latin typeface="Aptos Display"/>
              </a:defRPr>
            </a:pPr>
            <a:r>
              <a:t>₹73 L</a:t>
            </a:r>
          </a:p>
          <a:p>
            <a:pPr algn="ctr">
              <a:defRPr sz="1100" b="1">
                <a:solidFill>
                  <a:srgbClr val="28303A"/>
                </a:solidFill>
                <a:latin typeface="Aptos"/>
              </a:defRPr>
            </a:pPr>
            <a:r>
              <a:t>Median price</a:t>
            </a:r>
          </a:p>
          <a:p>
            <a:pPr algn="ctr">
              <a:defRPr sz="800">
                <a:solidFill>
                  <a:srgbClr val="5F6973"/>
                </a:solidFill>
                <a:latin typeface="Aptos"/>
              </a:defRPr>
            </a:pPr>
            <a:r>
              <a:t>lakhs of rupees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251460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2500" b="1">
                <a:solidFill>
                  <a:srgbClr val="E6AA3C"/>
                </a:solidFill>
                <a:latin typeface="Aptos Display"/>
              </a:defRPr>
            </a:pPr>
            <a:r>
              <a:t>₹8,022.90</a:t>
            </a:r>
          </a:p>
          <a:p>
            <a:pPr algn="ctr">
              <a:defRPr sz="1100" b="1">
                <a:solidFill>
                  <a:srgbClr val="28303A"/>
                </a:solidFill>
                <a:latin typeface="Aptos"/>
              </a:defRPr>
            </a:pPr>
            <a:r>
              <a:t>Average price / sq 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645920"/>
            <a:ext cx="251460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2500" b="1">
                <a:solidFill>
                  <a:srgbClr val="4472C4"/>
                </a:solidFill>
                <a:latin typeface="Aptos Display"/>
              </a:defRPr>
            </a:pPr>
            <a:r>
              <a:t>1,569.6</a:t>
            </a:r>
          </a:p>
          <a:p>
            <a:pPr algn="ctr">
              <a:defRPr sz="1100" b="1">
                <a:solidFill>
                  <a:srgbClr val="28303A"/>
                </a:solidFill>
                <a:latin typeface="Aptos"/>
              </a:defRPr>
            </a:pPr>
            <a:r>
              <a:t>Average size (sq ft)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10424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Average price exceeds median price, suggesting higher-priced listings pull the mean upward.</a:t>
            </a:r>
          </a:p>
          <a:p>
            <a:pPr>
              <a:spcAft>
                <a:spcPts val="8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EDA includes area-type comparisons, BHK comparisons, price distribution, location ranking, size-versus-price scatter plot, correlation heatmap, area-type counts, and outlier checks.</a:t>
            </a:r>
          </a:p>
          <a:p>
            <a:pPr>
              <a:spcAft>
                <a:spcPts val="8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The notebook reports 46 missing cleaned-area and price-per-square-foot values.</a:t>
            </a:r>
          </a:p>
          <a:p>
            <a:pPr>
              <a:spcAft>
                <a:spcPts val="8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The maximum BHK is 43 and maximum cleaned area is 52,272 sq ft; extreme values should be reviewed rather than automatically removed.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DA-40 Capstone • Bengaluru House Price Analysis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 Display"/>
              </a:defRPr>
            </a:pPr>
            <a:r>
              <a:t>5. 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t>Two report pages support overview and detailed comparisons.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02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074920" cy="4114800"/>
          </a:xfrm>
          <a:prstGeom prst="roundRect">
            <a:avLst/>
          </a:prstGeom>
          <a:solidFill>
            <a:srgbClr val="EBF2FA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365D"/>
                </a:solidFill>
              </a:defRPr>
            </a:pPr>
            <a:r>
              <a:t>Page 1 — Market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606040"/>
            <a:ext cx="4526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KPI cards: total properties, average price, median price</a:t>
            </a:r>
          </a:p>
          <a:p>
            <a:pPr>
              <a:spcAft>
                <a:spcPts val="8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Price by area type and BHK</a:t>
            </a:r>
          </a:p>
          <a:p>
            <a:pPr>
              <a:spcAft>
                <a:spcPts val="8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Price bands and property-size vs price</a:t>
            </a:r>
          </a:p>
          <a:p>
            <a:pPr>
              <a:spcAft>
                <a:spcPts val="8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Property count by area 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91640"/>
            <a:ext cx="5074920" cy="4114800"/>
          </a:xfrm>
          <a:prstGeom prst="roundRect">
            <a:avLst/>
          </a:prstGeom>
          <a:solidFill>
            <a:srgbClr val="EBF2FA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365D"/>
                </a:solidFill>
              </a:defRPr>
            </a:pPr>
            <a:r>
              <a:t>Page 2 — Detailed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606040"/>
            <a:ext cx="4526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Matrix: average price by area type and BHK</a:t>
            </a:r>
          </a:p>
          <a:p>
            <a:pPr>
              <a:spcAft>
                <a:spcPts val="8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BHK and Area Type slicers</a:t>
            </a:r>
          </a:p>
          <a:p>
            <a:pPr>
              <a:spcAft>
                <a:spcPts val="8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Top 10 locations by average price per sq ft</a:t>
            </a:r>
          </a:p>
          <a:p>
            <a:pPr>
              <a:spcAft>
                <a:spcPts val="8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Interactive filtering for segment comparisons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DA-40 Capstone • Bengaluru House Price Analysis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 Display"/>
              </a:defRPr>
            </a:pPr>
            <a:r>
              <a:t>6. Key Findings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t>Findings are descriptive; they show associations, not proof of causation.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02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Plot Area has the highest average total property price in the Power BI comparison; this is not the same as price per square foot.</a:t>
            </a:r>
          </a:p>
          <a:p>
            <a:pPr>
              <a:spcAft>
                <a:spcPts val="8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The average price (₹114.32 lakh) is higher than the median (₹73 lakh), so the median is a useful companion metric.</a:t>
            </a:r>
          </a:p>
          <a:p>
            <a:pPr>
              <a:spcAft>
                <a:spcPts val="8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Price and price per square foot vary by area type and location; compare both measures before drawing conclusions.</a:t>
            </a:r>
          </a:p>
          <a:p>
            <a:pPr>
              <a:spcAft>
                <a:spcPts val="8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Use location rankings cautiously when the number of listings is small.</a:t>
            </a:r>
          </a:p>
          <a:p>
            <a:pPr>
              <a:spcAft>
                <a:spcPts val="8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Validate extreme BHK, area, and price-per-square-foot values before excluding them.</a:t>
            </a:r>
          </a:p>
          <a:p>
            <a:pPr>
              <a:spcAft>
                <a:spcPts val="8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Use one consistent cleaned dataset across SQL, Python, and Power BI; resolve or disclose the 790-row SQL mismatch.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DA-40 Capstone • Bengaluru House Price Analysis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7724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7.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96112" y="1554480"/>
            <a:ext cx="1051560" cy="54864"/>
          </a:xfrm>
          <a:prstGeom prst="rect">
            <a:avLst/>
          </a:prstGeom>
          <a:solidFill>
            <a:srgbClr val="E6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875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Property prices vary across locations, area types, BHK configurations, and property sizes.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Using both total price and price per square foot gives a more balanced view of affordability and value.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Reliable recommendations depend on transparent cleaning rules, careful outlier review, and consistent data across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DDCF2"/>
                </a:solidFill>
              </a:defRPr>
            </a:pPr>
            <a:r>
              <a:t>Thank you  | 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  <a:latin typeface="Aptos"/>
              </a:defRPr>
            </a:pPr>
            <a:r>
              <a:t>DA-40 Capstone • Bengaluru House Price Analysis                                   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